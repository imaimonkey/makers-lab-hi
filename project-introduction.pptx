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01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14400"/>
            <a:ext cx="566928" cy="566928"/>
          </a:xfrm>
          <a:prstGeom prst="roundRect">
            <a:avLst>
              <a:gd name="adj" fmla="val 6000"/>
            </a:avLst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00205B"/>
                </a:solidFill>
                <a:latin typeface="Malgun Gothic"/>
                <a:ea typeface="Malgun Gothic"/>
              </a:rPr>
              <a:t>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1645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9E1B"/>
                </a:solidFill>
                <a:latin typeface="Malgun Gothic"/>
                <a:ea typeface="Malgun Gothic"/>
              </a:rPr>
              <a:t>UNOFFICIAL INTERNAL CONCEPT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Malgun Gothic"/>
                <a:ea typeface="Malgun Gothic"/>
              </a:rPr>
              <a:t>HI Emerging Risk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9875520" cy="10972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CD6E8"/>
                </a:solidFill>
                <a:latin typeface="Malgun Gothic"/>
                <a:ea typeface="Malgun Gothic"/>
              </a:rPr>
              <a:t>기술 발전 · 산업구조 변화 · 기후변화 · 법령 개정으로 등장하는 신규 위험을 외부 정보 채널 상시 스크리닝으로 조기에 발견하고, 보험 사각지대를 찾아 상품개발 실무자에게 근거와 함께 제안하는 신위험 인텔리전스 워크벤치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74920"/>
            <a:ext cx="210312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A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CCD6E8"/>
                </a:solidFill>
                <a:latin typeface="Malgun Gothic"/>
                <a:ea typeface="Malgun Gothic"/>
              </a:rPr>
              <a:t>일반보험 상품개발 실무 지원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90672" y="5074920"/>
            <a:ext cx="3054096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A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CCD6E8"/>
                </a:solidFill>
                <a:latin typeface="Malgun Gothic"/>
                <a:ea typeface="Malgun Gothic"/>
              </a:rPr>
              <a:t>기업성 보험 우선 · 가계성 보조 모니터링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5074920"/>
            <a:ext cx="3410712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A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CCD6E8"/>
                </a:solidFill>
                <a:latin typeface="Malgun Gothic"/>
                <a:ea typeface="Malgun Gothic"/>
              </a:rPr>
              <a:t>대시보드 → 위험 탐색 → 위험 상세 → 리포트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601200" cy="502920"/>
          </a:xfrm>
          <a:prstGeom prst="rect">
            <a:avLst/>
          </a:prstGeom>
          <a:noFill/>
        </p:spPr>
        <p:txBody>
          <a:bodyPr wrap="square" anchor="b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1B"/>
                </a:solidFill>
                <a:latin typeface="Malgun Gothic"/>
                <a:ea typeface="Malgun Gothic"/>
              </a:rPr>
              <a:t>01   </a:t>
            </a:r>
            <a:r>
              <a:rPr sz="2000" b="1">
                <a:solidFill>
                  <a:srgbClr val="00205B"/>
                </a:solidFill>
                <a:latin typeface="Malgun Gothic"/>
                <a:ea typeface="Malgun Gothic"/>
              </a:rPr>
              <a:t>실무자의 환경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274320"/>
            <a:ext cx="3794760" cy="502920"/>
          </a:xfrm>
          <a:prstGeom prst="rect">
            <a:avLst/>
          </a:prstGeom>
          <a:noFill/>
        </p:spPr>
        <p:txBody>
          <a:bodyPr wrap="square" anchor="b" lIns="18288" rIns="18288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197"/>
                </a:solidFill>
                <a:latin typeface="Malgun Gothic"/>
                <a:ea typeface="Malgun Gothic"/>
              </a:rPr>
              <a:t>일반보험 상품개발 직무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1183112" cy="330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83112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8324C"/>
                </a:solidFill>
                <a:latin typeface="Malgun Gothic"/>
                <a:ea typeface="Malgun Gothic"/>
              </a:rPr>
              <a:t>대상 사용자 — </a:t>
            </a:r>
            <a:r>
              <a:rPr sz="1250" b="1">
                <a:solidFill>
                  <a:srgbClr val="FF9E1B"/>
                </a:solidFill>
                <a:latin typeface="Malgun Gothic"/>
                <a:ea typeface="Malgun Gothic"/>
              </a:rPr>
              <a:t>일반보험 상품개발 부서 실무자</a:t>
            </a:r>
            <a:r>
              <a:rPr sz="1250" b="1">
                <a:solidFill>
                  <a:srgbClr val="18324C"/>
                </a:solidFill>
                <a:latin typeface="Malgun Gothic"/>
                <a:ea typeface="Malgun Gothic"/>
              </a:rPr>
              <a:t> : 기업과 개인의 새로운 리스크에 맞춰 신규 상품을 개발하고 기존 상품을 개정·관리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BFDFF"/>
          </a:solidFill>
          <a:ln w="9525">
            <a:solidFill>
              <a:srgbClr val="E3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" y="1755648"/>
            <a:ext cx="40640" cy="146304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691640"/>
            <a:ext cx="5102352" cy="1965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주요 업무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50" b="0">
                <a:solidFill>
                  <a:srgbClr val="18324C"/>
                </a:solidFill>
                <a:latin typeface="Malgun Gothic"/>
                <a:ea typeface="Malgun Gothic"/>
              </a:rPr>
              <a:t>신규 보험상품 개발 · 기존 상품 개정 및 관리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50" b="0">
                <a:solidFill>
                  <a:srgbClr val="18324C"/>
                </a:solidFill>
                <a:latin typeface="Malgun Gothic"/>
                <a:ea typeface="Malgun Gothic"/>
              </a:rPr>
              <a:t>보험요율 · 위험률 산출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50" b="0">
                <a:solidFill>
                  <a:srgbClr val="18324C"/>
                </a:solidFill>
                <a:latin typeface="Malgun Gothic"/>
                <a:ea typeface="Malgun Gothic"/>
              </a:rPr>
              <a:t>보험약관 · 기초서류 작성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50" b="0">
                <a:solidFill>
                  <a:srgbClr val="18324C"/>
                </a:solidFill>
                <a:latin typeface="Malgun Gothic"/>
                <a:ea typeface="Malgun Gothic"/>
              </a:rPr>
              <a:t>금융감독원 신고 및 협의, 영업부서 협업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60020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BFDFF"/>
          </a:solidFill>
          <a:ln w="9525">
            <a:solidFill>
              <a:srgbClr val="E3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45936" y="1755648"/>
            <a:ext cx="40640" cy="146304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691640"/>
            <a:ext cx="5102352" cy="1965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담당 고객과 상품 범위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950" b="1">
                <a:solidFill>
                  <a:srgbClr val="00205B"/>
                </a:solidFill>
                <a:latin typeface="Malgun Gothic"/>
                <a:ea typeface="Malgun Gothic"/>
              </a:rPr>
              <a:t>기업 고객</a:t>
            </a:r>
            <a:r>
              <a:rPr sz="950" b="0">
                <a:solidFill>
                  <a:srgbClr val="18324C"/>
                </a:solidFill>
                <a:latin typeface="Malgun Gothic"/>
                <a:ea typeface="Malgun Gothic"/>
              </a:rPr>
              <a:t> — 화재 · 해상 · 기술 · 책임 · 특종 등 기업의 재산 · 배상책임 · 사업 운영 위험을 보장하는 기업성 보험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950" b="1">
                <a:solidFill>
                  <a:srgbClr val="00205B"/>
                </a:solidFill>
                <a:latin typeface="Malgun Gothic"/>
                <a:ea typeface="Malgun Gothic"/>
              </a:rPr>
              <a:t>가계(개인) 고객</a:t>
            </a:r>
            <a:r>
              <a:rPr sz="950" b="0">
                <a:solidFill>
                  <a:srgbClr val="18324C"/>
                </a:solidFill>
                <a:latin typeface="Malgun Gothic"/>
                <a:ea typeface="Malgun Gothic"/>
              </a:rPr>
              <a:t> — 일상 위험을 보장하는 가계성 상품, 상대적으로 규제 · 절차 엄격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900" b="0">
                <a:solidFill>
                  <a:srgbClr val="6B8197"/>
                </a:solidFill>
                <a:latin typeface="Malgun Gothic"/>
                <a:ea typeface="Malgun Gothic"/>
              </a:rPr>
              <a:t>기업성 보험은 설계 · 요율 적용이 유연해 신위험 대응 속도가 빠르고 건당 규모가 큼 → 시스템의 우선 탐색 대상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77639"/>
            <a:ext cx="11183112" cy="1737360"/>
          </a:xfrm>
          <a:prstGeom prst="roundRect">
            <a:avLst>
              <a:gd name="adj" fmla="val 6000"/>
            </a:avLst>
          </a:prstGeom>
          <a:solidFill>
            <a:srgbClr val="FBFDFF"/>
          </a:solidFill>
          <a:ln w="9525">
            <a:solidFill>
              <a:srgbClr val="E3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" y="4133087"/>
            <a:ext cx="40640" cy="146304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4069079"/>
            <a:ext cx="10799064" cy="1554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업무 환경의 특성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50" b="0">
                <a:solidFill>
                  <a:srgbClr val="18324C"/>
                </a:solidFill>
                <a:latin typeface="Malgun Gothic"/>
                <a:ea typeface="Malgun Gothic"/>
              </a:rPr>
              <a:t>기술 발전 · 산업환경 · 법령 및 규제 변화를 지속적으로 따라가며 상품화 기회를 판단해야 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50" b="0">
                <a:solidFill>
                  <a:srgbClr val="18324C"/>
                </a:solidFill>
                <a:latin typeface="Malgun Gothic"/>
                <a:ea typeface="Malgun Gothic"/>
              </a:rPr>
              <a:t>위험률 · 보험료 산출은 금전적 책임과 직결되는 정밀 영역 — 아이디어 발굴과 확정 판단의 성격이 다름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50" b="0">
                <a:solidFill>
                  <a:srgbClr val="18324C"/>
                </a:solidFill>
                <a:latin typeface="Malgun Gothic"/>
                <a:ea typeface="Malgun Gothic"/>
              </a:rPr>
              <a:t>신규 위험 탐색에 쓸 수 있는 정보가 제한적이고, 수집 · 분석이 개인의 경험과 인적 네트워크에 의존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601200" cy="502920"/>
          </a:xfrm>
          <a:prstGeom prst="rect">
            <a:avLst/>
          </a:prstGeom>
          <a:noFill/>
        </p:spPr>
        <p:txBody>
          <a:bodyPr wrap="square" anchor="b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1B"/>
                </a:solidFill>
                <a:latin typeface="Malgun Gothic"/>
                <a:ea typeface="Malgun Gothic"/>
              </a:rPr>
              <a:t>02   </a:t>
            </a:r>
            <a:r>
              <a:rPr sz="2000" b="1">
                <a:solidFill>
                  <a:srgbClr val="00205B"/>
                </a:solidFill>
                <a:latin typeface="Malgun Gothic"/>
                <a:ea typeface="Malgun Gothic"/>
              </a:rPr>
              <a:t>문제 정의 — AS-IS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274320"/>
            <a:ext cx="3794760" cy="502920"/>
          </a:xfrm>
          <a:prstGeom prst="rect">
            <a:avLst/>
          </a:prstGeom>
          <a:noFill/>
        </p:spPr>
        <p:txBody>
          <a:bodyPr wrap="square" anchor="b" lIns="18288" rIns="18288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197"/>
                </a:solidFill>
                <a:latin typeface="Malgun Gothic"/>
                <a:ea typeface="Malgun Gothic"/>
              </a:rPr>
              <a:t>현행 신규 위험 발견 방식의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1183112" cy="330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83112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8324C"/>
                </a:solidFill>
                <a:latin typeface="Malgun Gothic"/>
                <a:ea typeface="Malgun Gothic"/>
              </a:rPr>
              <a:t>신규 위험 유입의 </a:t>
            </a:r>
            <a:r>
              <a:rPr sz="1250" b="1">
                <a:solidFill>
                  <a:srgbClr val="FF9E1B"/>
                </a:solidFill>
                <a:latin typeface="Malgun Gothic"/>
                <a:ea typeface="Malgun Gothic"/>
              </a:rPr>
              <a:t>약 80~90%가 영업부서 · 계약자 요청 이후</a:t>
            </a:r>
            <a:r>
              <a:rPr sz="1250" b="1">
                <a:solidFill>
                  <a:srgbClr val="18324C"/>
                </a:solidFill>
                <a:latin typeface="Malgun Gothic"/>
                <a:ea typeface="Malgun Gothic"/>
              </a:rPr>
              <a:t> 검토 — 담당자의 자발적 탐색은 10~20% 수준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183112" cy="777240"/>
          </a:xfrm>
          <a:prstGeom prst="roundRect">
            <a:avLst>
              <a:gd name="adj" fmla="val 6000"/>
            </a:avLst>
          </a:prstGeom>
          <a:solidFill>
            <a:srgbClr val="FBFDFF"/>
          </a:solidFill>
          <a:ln w="9525">
            <a:solidFill>
              <a:srgbClr val="E3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01368"/>
            <a:ext cx="365760" cy="365760"/>
          </a:xfrm>
          <a:prstGeom prst="roundRect">
            <a:avLst>
              <a:gd name="adj" fmla="val 6000"/>
            </a:avLst>
          </a:prstGeom>
          <a:solidFill>
            <a:srgbClr val="FF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91640"/>
            <a:ext cx="329184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탐색 과정이 체계적이지 않음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691640"/>
            <a:ext cx="672084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8197"/>
                </a:solidFill>
                <a:latin typeface="Malgun Gothic"/>
                <a:ea typeface="Malgun Gothic"/>
              </a:rPr>
              <a:t>신규 위험을 상시 감지하는 시스템이 없어 뉴스 · 영업 의견 · 업계 동향을 사람이 직접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32888"/>
            <a:ext cx="11183112" cy="777240"/>
          </a:xfrm>
          <a:prstGeom prst="roundRect">
            <a:avLst>
              <a:gd name="adj" fmla="val 6000"/>
            </a:avLst>
          </a:prstGeom>
          <a:solidFill>
            <a:srgbClr val="FBFDFF"/>
          </a:solidFill>
          <a:ln w="9525">
            <a:solidFill>
              <a:srgbClr val="E3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734056"/>
            <a:ext cx="365760" cy="365760"/>
          </a:xfrm>
          <a:prstGeom prst="roundRect">
            <a:avLst>
              <a:gd name="adj" fmla="val 6000"/>
            </a:avLst>
          </a:prstGeom>
          <a:solidFill>
            <a:srgbClr val="FF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624328"/>
            <a:ext cx="329184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위험 현실화 이후의 후행적 인지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624328"/>
            <a:ext cx="672084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8197"/>
                </a:solidFill>
                <a:latin typeface="Malgun Gothic"/>
                <a:ea typeface="Malgun Gothic"/>
              </a:rPr>
              <a:t>요청과 뉴스에 의존하므로 사고가 이미 발생한 뒤에야 위험을 알게 되는 경우가 다수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65576"/>
            <a:ext cx="11183112" cy="777240"/>
          </a:xfrm>
          <a:prstGeom prst="roundRect">
            <a:avLst>
              <a:gd name="adj" fmla="val 6000"/>
            </a:avLst>
          </a:prstGeom>
          <a:solidFill>
            <a:srgbClr val="FBFDFF"/>
          </a:solidFill>
          <a:ln w="9525">
            <a:solidFill>
              <a:srgbClr val="E3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666744"/>
            <a:ext cx="365760" cy="365760"/>
          </a:xfrm>
          <a:prstGeom prst="roundRect">
            <a:avLst>
              <a:gd name="adj" fmla="val 6000"/>
            </a:avLst>
          </a:prstGeom>
          <a:solidFill>
            <a:srgbClr val="FF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57016"/>
            <a:ext cx="329184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정보 수집 자체의 제약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557016"/>
            <a:ext cx="672084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8197"/>
                </a:solidFill>
                <a:latin typeface="Malgun Gothic"/>
                <a:ea typeface="Malgun Gothic"/>
              </a:rPr>
              <a:t>재보험사 발간물 · 입법예고 · 연구자료 등 유효 채널이 통합 수집되지 않고 개별 담당자에 분산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398264"/>
            <a:ext cx="11183112" cy="777240"/>
          </a:xfrm>
          <a:prstGeom prst="roundRect">
            <a:avLst>
              <a:gd name="adj" fmla="val 6000"/>
            </a:avLst>
          </a:prstGeom>
          <a:solidFill>
            <a:srgbClr val="FBFDFF"/>
          </a:solidFill>
          <a:ln w="9525">
            <a:solidFill>
              <a:srgbClr val="E3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599432"/>
            <a:ext cx="365760" cy="365760"/>
          </a:xfrm>
          <a:prstGeom prst="roundRect">
            <a:avLst>
              <a:gd name="adj" fmla="val 6000"/>
            </a:avLst>
          </a:prstGeom>
          <a:solidFill>
            <a:srgbClr val="FF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489704"/>
            <a:ext cx="329184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법령 · 규제 변화 탐지 공백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4489704"/>
            <a:ext cx="672084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8197"/>
                </a:solidFill>
                <a:latin typeface="Malgun Gothic"/>
                <a:ea typeface="Malgun Gothic"/>
              </a:rPr>
              <a:t>의무보험 신설 등 상품 기회와 직결되는 법령 개정도 외부 기관 전달에 의존해 뒤늦게 착수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330952"/>
            <a:ext cx="11183112" cy="777240"/>
          </a:xfrm>
          <a:prstGeom prst="roundRect">
            <a:avLst>
              <a:gd name="adj" fmla="val 6000"/>
            </a:avLst>
          </a:prstGeom>
          <a:solidFill>
            <a:srgbClr val="FBFDFF"/>
          </a:solidFill>
          <a:ln w="9525">
            <a:solidFill>
              <a:srgbClr val="E3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5532120"/>
            <a:ext cx="365760" cy="365760"/>
          </a:xfrm>
          <a:prstGeom prst="roundRect">
            <a:avLst>
              <a:gd name="adj" fmla="val 6000"/>
            </a:avLst>
          </a:prstGeom>
          <a:solidFill>
            <a:srgbClr val="FF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422392"/>
            <a:ext cx="329184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검토 이력의 휘발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5422392"/>
            <a:ext cx="672084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8197"/>
                </a:solidFill>
                <a:latin typeface="Malgun Gothic"/>
                <a:ea typeface="Malgun Gothic"/>
              </a:rPr>
              <a:t>전화 · 이메일 · 메신저로 오가는 요청과 폐기 사유가 기록으로 축적되지 않아 조직 지식화 불가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601200" cy="502920"/>
          </a:xfrm>
          <a:prstGeom prst="rect">
            <a:avLst/>
          </a:prstGeom>
          <a:noFill/>
        </p:spPr>
        <p:txBody>
          <a:bodyPr wrap="square" anchor="b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1B"/>
                </a:solidFill>
                <a:latin typeface="Malgun Gothic"/>
                <a:ea typeface="Malgun Gothic"/>
              </a:rPr>
              <a:t>03   </a:t>
            </a:r>
            <a:r>
              <a:rPr sz="2000" b="1">
                <a:solidFill>
                  <a:srgbClr val="00205B"/>
                </a:solidFill>
                <a:latin typeface="Malgun Gothic"/>
                <a:ea typeface="Malgun Gothic"/>
              </a:rPr>
              <a:t>접근 방향 — TO-BE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274320"/>
            <a:ext cx="3794760" cy="502920"/>
          </a:xfrm>
          <a:prstGeom prst="rect">
            <a:avLst/>
          </a:prstGeom>
          <a:noFill/>
        </p:spPr>
        <p:txBody>
          <a:bodyPr wrap="square" anchor="b" lIns="18288" rIns="18288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197"/>
                </a:solidFill>
                <a:latin typeface="Malgun Gothic"/>
                <a:ea typeface="Malgun Gothic"/>
              </a:rPr>
              <a:t>상시 스크리닝 → 1차 분석 → 실무자 제안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1183112" cy="330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83112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8324C"/>
                </a:solidFill>
                <a:latin typeface="Malgun Gothic"/>
                <a:ea typeface="Malgun Gothic"/>
              </a:rPr>
              <a:t>요청을 기다리는 방식에서, 외부 정보를 </a:t>
            </a:r>
            <a:r>
              <a:rPr sz="1250" b="1">
                <a:solidFill>
                  <a:srgbClr val="FF9E1B"/>
                </a:solidFill>
                <a:latin typeface="Malgun Gothic"/>
                <a:ea typeface="Malgun Gothic"/>
              </a:rPr>
              <a:t>상시 스크리닝해 먼저 제안</a:t>
            </a:r>
            <a:r>
              <a:rPr sz="1250" b="1">
                <a:solidFill>
                  <a:srgbClr val="18324C"/>
                </a:solidFill>
                <a:latin typeface="Malgun Gothic"/>
                <a:ea typeface="Malgun Gothic"/>
              </a:rPr>
              <a:t>하는 방식으로 전환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2542032" cy="13716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9525">
            <a:solidFill>
              <a:srgbClr val="CB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700784"/>
            <a:ext cx="226771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9E1B"/>
                </a:solidFill>
                <a:latin typeface="Malgun Gothic"/>
                <a:ea typeface="Malgun Gothic"/>
              </a:rPr>
              <a:t>STEP 1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50" b="1">
                <a:solidFill>
                  <a:srgbClr val="00205B"/>
                </a:solidFill>
                <a:latin typeface="Malgun Gothic"/>
                <a:ea typeface="Malgun Gothic"/>
              </a:rPr>
              <a:t>채널 상시 스크리닝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6B8197"/>
                </a:solidFill>
                <a:latin typeface="Malgun Gothic"/>
                <a:ea typeface="Malgun Gothic"/>
              </a:rPr>
              <a:t>뉴스 · 재보험 · 입법예고 · 연구기관 · 투자 동향 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011680"/>
            <a:ext cx="32004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18FDE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00200"/>
            <a:ext cx="2542032" cy="13716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9525">
            <a:solidFill>
              <a:srgbClr val="CB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1700784"/>
            <a:ext cx="226771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9E1B"/>
                </a:solidFill>
                <a:latin typeface="Malgun Gothic"/>
                <a:ea typeface="Malgun Gothic"/>
              </a:rPr>
              <a:t>STEP 2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50" b="1">
                <a:solidFill>
                  <a:srgbClr val="00205B"/>
                </a:solidFill>
                <a:latin typeface="Malgun Gothic"/>
                <a:ea typeface="Malgun Gothic"/>
              </a:rPr>
              <a:t>신위험 후보 발굴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6B8197"/>
                </a:solidFill>
                <a:latin typeface="Malgun Gothic"/>
                <a:ea typeface="Malgun Gothic"/>
              </a:rPr>
              <a:t>위험 카드 정리 · 기업성/가계성 분류 · 사각지대 식별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32004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18FDE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542032" cy="13716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9525">
            <a:solidFill>
              <a:srgbClr val="CB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700784"/>
            <a:ext cx="226771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9E1B"/>
                </a:solidFill>
                <a:latin typeface="Malgun Gothic"/>
                <a:ea typeface="Malgun Gothic"/>
              </a:rPr>
              <a:t>STEP 3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50" b="1">
                <a:solidFill>
                  <a:srgbClr val="00205B"/>
                </a:solidFill>
                <a:latin typeface="Malgun Gothic"/>
                <a:ea typeface="Malgun Gothic"/>
              </a:rPr>
              <a:t>상품화 1차 평가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6B8197"/>
                </a:solidFill>
                <a:latin typeface="Malgun Gothic"/>
                <a:ea typeface="Malgun Gothic"/>
              </a:rPr>
              <a:t>시장성 · 보험성 · PML · 약관 가능성 체크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011680"/>
            <a:ext cx="32004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18FDE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600200"/>
            <a:ext cx="2542032" cy="1371600"/>
          </a:xfrm>
          <a:prstGeom prst="roundRect">
            <a:avLst>
              <a:gd name="adj" fmla="val 6000"/>
            </a:avLst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0304" y="1700784"/>
            <a:ext cx="226771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9E1B"/>
                </a:solidFill>
                <a:latin typeface="Malgun Gothic"/>
                <a:ea typeface="Malgun Gothic"/>
              </a:rPr>
              <a:t>STEP 4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</a:rPr>
              <a:t>근거와 함께 제안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C5CFE2"/>
                </a:solidFill>
                <a:latin typeface="Malgun Gothic"/>
                <a:ea typeface="Malgun Gothic"/>
              </a:rPr>
              <a:t>회의용 리포트 · 검토 질문 · 이력 축적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9184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BFDFF"/>
          </a:solidFill>
          <a:ln w="9525">
            <a:solidFill>
              <a:srgbClr val="E3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" y="3447288"/>
            <a:ext cx="40640" cy="146304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3383280"/>
            <a:ext cx="5102352" cy="21945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시스템(AI)이 맡는 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50" b="0">
                <a:solidFill>
                  <a:srgbClr val="18324C"/>
                </a:solidFill>
                <a:latin typeface="Malgun Gothic"/>
                <a:ea typeface="Malgun Gothic"/>
              </a:rPr>
              <a:t>공개 정보 상시 수집 · 신위험 후보 발굴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50" b="0">
                <a:solidFill>
                  <a:srgbClr val="18324C"/>
                </a:solidFill>
                <a:latin typeface="Malgun Gothic"/>
                <a:ea typeface="Malgun Gothic"/>
              </a:rPr>
              <a:t>유사 사고 · 유사 상품 · 해외 사례 검색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50" b="0">
                <a:solidFill>
                  <a:srgbClr val="18324C"/>
                </a:solidFill>
                <a:latin typeface="Malgun Gothic"/>
                <a:ea typeface="Malgun Gothic"/>
              </a:rPr>
              <a:t>법령 · 규제 변화 탐지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50" b="0">
                <a:solidFill>
                  <a:srgbClr val="18324C"/>
                </a:solidFill>
                <a:latin typeface="Malgun Gothic"/>
                <a:ea typeface="Malgun Gothic"/>
              </a:rPr>
              <a:t>심사 기준 1차 체크리스트와 회의자료 생성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329184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BFDFF"/>
          </a:solidFill>
          <a:ln w="9525">
            <a:solidFill>
              <a:srgbClr val="E3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45936" y="3447288"/>
            <a:ext cx="40640" cy="146304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3383280"/>
            <a:ext cx="5102352" cy="21945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실무자가 맡는 일 (시스템이 확정하지 않는 일)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50" b="0">
                <a:solidFill>
                  <a:srgbClr val="18324C"/>
                </a:solidFill>
                <a:latin typeface="Malgun Gothic"/>
                <a:ea typeface="Malgun Gothic"/>
              </a:rPr>
              <a:t>최종 보험료 · 위험률 산출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50" b="0">
                <a:solidFill>
                  <a:srgbClr val="18324C"/>
                </a:solidFill>
                <a:latin typeface="Malgun Gothic"/>
                <a:ea typeface="Malgun Gothic"/>
              </a:rPr>
              <a:t>법률 · 준법 최종 판단, 약관 확정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50" b="0">
                <a:solidFill>
                  <a:srgbClr val="18324C"/>
                </a:solidFill>
                <a:latin typeface="Malgun Gothic"/>
                <a:ea typeface="Malgun Gothic"/>
              </a:rPr>
              <a:t>인수 여부 · 보장한도 결정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6B8197"/>
                </a:solidFill>
                <a:latin typeface="Malgun Gothic"/>
                <a:ea typeface="Malgun Gothic"/>
              </a:rPr>
              <a:t>모든 시스템 결과에 출처 · 분석 시점 · 불확실성 표시 — 최종 판단은 항상 실무자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601200" cy="502920"/>
          </a:xfrm>
          <a:prstGeom prst="rect">
            <a:avLst/>
          </a:prstGeom>
          <a:noFill/>
        </p:spPr>
        <p:txBody>
          <a:bodyPr wrap="square" anchor="b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1B"/>
                </a:solidFill>
                <a:latin typeface="Malgun Gothic"/>
                <a:ea typeface="Malgun Gothic"/>
              </a:rPr>
              <a:t>04   </a:t>
            </a:r>
            <a:r>
              <a:rPr sz="2000" b="1">
                <a:solidFill>
                  <a:srgbClr val="00205B"/>
                </a:solidFill>
                <a:latin typeface="Malgun Gothic"/>
                <a:ea typeface="Malgun Gothic"/>
              </a:rPr>
              <a:t>스크리닝 대상 정보 채널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274320"/>
            <a:ext cx="3794760" cy="502920"/>
          </a:xfrm>
          <a:prstGeom prst="rect">
            <a:avLst/>
          </a:prstGeom>
          <a:noFill/>
        </p:spPr>
        <p:txBody>
          <a:bodyPr wrap="square" anchor="b" lIns="18288" rIns="18288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197"/>
                </a:solidFill>
                <a:latin typeface="Malgun Gothic"/>
                <a:ea typeface="Malgun Gothic"/>
              </a:rPr>
              <a:t>신규 위험 · 의무보험 기회를 먼저 발견하는 재료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1183112" cy="330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11183112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4754880"/>
                <a:gridCol w="432511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채널</a:t>
                      </a:r>
                    </a:p>
                  </a:txBody>
                  <a:tcPr marL="91440" marR="91440" marT="36576" marB="36576" anchor="ctr">
                    <a:solidFill>
                      <a:srgbClr val="0020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대상</a:t>
                      </a:r>
                    </a:p>
                  </a:txBody>
                  <a:tcPr marL="91440" marR="91440" marT="36576" marB="36576" anchor="ctr">
                    <a:solidFill>
                      <a:srgbClr val="0020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탐지 목적</a:t>
                      </a:r>
                    </a:p>
                  </a:txBody>
                  <a:tcPr marL="91440" marR="91440" marT="36576" marB="36576" anchor="ctr">
                    <a:solidFill>
                      <a:srgbClr val="0020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205B"/>
                          </a:solidFill>
                          <a:latin typeface="Malgun Gothic"/>
                          <a:ea typeface="Malgun Gothic"/>
                        </a:rPr>
                        <a:t>뉴스 · VOC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8324C"/>
                          </a:solidFill>
                          <a:latin typeface="Malgun Gothic"/>
                          <a:ea typeface="Malgun Gothic"/>
                        </a:rPr>
                        <a:t>사고 · 피해 보도, “보장받기 어렵다 · 사각지대” 류 표현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8324C"/>
                          </a:solidFill>
                          <a:latin typeface="Malgun Gothic"/>
                          <a:ea typeface="Malgun Gothic"/>
                        </a:rPr>
                        <a:t>보험이라는 단어가 없는 잠재 보장 수요까지 탐지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205B"/>
                          </a:solidFill>
                          <a:latin typeface="Malgun Gothic"/>
                          <a:ea typeface="Malgun Gothic"/>
                        </a:rPr>
                        <a:t>해외 재보험 · 브로커</a:t>
                      </a:r>
                    </a:p>
                  </a:txBody>
                  <a:tcPr marL="91440" marR="91440" marT="36576" marB="36576" anchor="ctr">
                    <a:solidFill>
                      <a:srgbClr val="FBFD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8324C"/>
                          </a:solidFill>
                          <a:latin typeface="Malgun Gothic"/>
                          <a:ea typeface="Malgun Gothic"/>
                        </a:rPr>
                        <a:t>Swiss Re · Munich Re · Lloyd’s 등 발간물</a:t>
                      </a:r>
                    </a:p>
                  </a:txBody>
                  <a:tcPr marL="91440" marR="91440" marT="36576" marB="36576" anchor="ctr">
                    <a:solidFill>
                      <a:srgbClr val="FBFD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8324C"/>
                          </a:solidFill>
                          <a:latin typeface="Malgun Gothic"/>
                          <a:ea typeface="Malgun Gothic"/>
                        </a:rPr>
                        <a:t>국내보다 앞선 기업성 위험 · 인수 조건 · 글로벌 트렌드</a:t>
                      </a:r>
                    </a:p>
                  </a:txBody>
                  <a:tcPr marL="91440" marR="91440" marT="36576" marB="36576" anchor="ctr">
                    <a:solidFill>
                      <a:srgbClr val="FBFD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205B"/>
                          </a:solidFill>
                          <a:latin typeface="Malgun Gothic"/>
                          <a:ea typeface="Malgun Gothic"/>
                        </a:rPr>
                        <a:t>정부 · 규제기관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8324C"/>
                          </a:solidFill>
                          <a:latin typeface="Malgun Gothic"/>
                          <a:ea typeface="Malgun Gothic"/>
                        </a:rPr>
                        <a:t>입법예고, 법령 개정안, 금융위 · 금감원 보도자료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8324C"/>
                          </a:solidFill>
                          <a:latin typeface="Malgun Gothic"/>
                          <a:ea typeface="Malgun Gothic"/>
                        </a:rPr>
                        <a:t>신규 의무보험 · 규제로 형성되는 보험시장 조기 탐지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205B"/>
                          </a:solidFill>
                          <a:latin typeface="Malgun Gothic"/>
                          <a:ea typeface="Malgun Gothic"/>
                        </a:rPr>
                        <a:t>업계 · 연구기관</a:t>
                      </a:r>
                    </a:p>
                  </a:txBody>
                  <a:tcPr marL="91440" marR="91440" marT="36576" marB="36576" anchor="ctr">
                    <a:solidFill>
                      <a:srgbClr val="FBFD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8324C"/>
                          </a:solidFill>
                          <a:latin typeface="Malgun Gothic"/>
                          <a:ea typeface="Malgun Gothic"/>
                        </a:rPr>
                        <a:t>보험연구원 · 보험개발원 · 손보협회 배타적 사용권 자료</a:t>
                      </a:r>
                    </a:p>
                  </a:txBody>
                  <a:tcPr marL="91440" marR="91440" marT="36576" marB="36576" anchor="ctr">
                    <a:solidFill>
                      <a:srgbClr val="FBFD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8324C"/>
                          </a:solidFill>
                          <a:latin typeface="Malgun Gothic"/>
                          <a:ea typeface="Malgun Gothic"/>
                        </a:rPr>
                        <a:t>보장 공백 분석 · 국내 신상품과 차별화 담보 탐색</a:t>
                      </a:r>
                    </a:p>
                  </a:txBody>
                  <a:tcPr marL="91440" marR="91440" marT="36576" marB="36576" anchor="ctr">
                    <a:solidFill>
                      <a:srgbClr val="FBFD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205B"/>
                          </a:solidFill>
                          <a:latin typeface="Malgun Gothic"/>
                          <a:ea typeface="Malgun Gothic"/>
                        </a:rPr>
                        <a:t>기술 · 투자 데이터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8324C"/>
                          </a:solidFill>
                          <a:latin typeface="Malgun Gothic"/>
                          <a:ea typeface="Malgun Gothic"/>
                        </a:rPr>
                        <a:t>특허 출원 · VC 투자 · 신산업 육성 정책 · 거시경제 분석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8324C"/>
                          </a:solidFill>
                          <a:latin typeface="Malgun Gothic"/>
                          <a:ea typeface="Malgun Gothic"/>
                        </a:rPr>
                        <a:t>새 설비 · 사업모델의 재물 · 책임 · 사업중단 위험 예측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205B"/>
                          </a:solidFill>
                          <a:latin typeface="Malgun Gothic"/>
                          <a:ea typeface="Malgun Gothic"/>
                        </a:rPr>
                        <a:t>사내 영업 채널</a:t>
                      </a:r>
                    </a:p>
                  </a:txBody>
                  <a:tcPr marL="91440" marR="91440" marT="36576" marB="36576" anchor="ctr">
                    <a:solidFill>
                      <a:srgbClr val="FBFD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8324C"/>
                          </a:solidFill>
                          <a:latin typeface="Malgun Gothic"/>
                          <a:ea typeface="Malgun Gothic"/>
                        </a:rPr>
                        <a:t>영업부서 요청 · 고객 미팅 기록 (현행 유입의 최대 비중)</a:t>
                      </a:r>
                    </a:p>
                  </a:txBody>
                  <a:tcPr marL="91440" marR="91440" marT="36576" marB="36576" anchor="ctr">
                    <a:solidFill>
                      <a:srgbClr val="FBFD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8324C"/>
                          </a:solidFill>
                          <a:latin typeface="Malgun Gothic"/>
                          <a:ea typeface="Malgun Gothic"/>
                        </a:rPr>
                        <a:t>실제 계약 수요를 표준 양식으로 구조화해 축적</a:t>
                      </a:r>
                    </a:p>
                  </a:txBody>
                  <a:tcPr marL="91440" marR="91440" marT="36576" marB="36576" anchor="ctr">
                    <a:solidFill>
                      <a:srgbClr val="FBFD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349240"/>
            <a:ext cx="1118311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1">
                <a:solidFill>
                  <a:srgbClr val="00205B"/>
                </a:solidFill>
                <a:latin typeface="Malgun Gothic"/>
                <a:ea typeface="Malgun Gothic"/>
              </a:rPr>
              <a:t>키워드 스크리닝 예시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 — 의무보험 · 보험 가입 의무 · 배상책임 · 사각지대 / 신산업 · 상용화 · 특허 급증 / 랜섬웨어 · 공급망 중단 · 배터리 화재 · 로봇 · 드론 · AI 책임 · 기후재난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9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950" b="0">
                <a:solidFill>
                  <a:srgbClr val="6B8197"/>
                </a:solidFill>
                <a:latin typeface="Malgun Gothic"/>
                <a:ea typeface="Malgun Gothic"/>
              </a:rPr>
              <a:t>수집량이 곧 위험 크기가 되지 않도록 채널별 출처 · 수집 주기 · 중복 제거 기준을 함께 관리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601200" cy="502920"/>
          </a:xfrm>
          <a:prstGeom prst="rect">
            <a:avLst/>
          </a:prstGeom>
          <a:noFill/>
        </p:spPr>
        <p:txBody>
          <a:bodyPr wrap="square" anchor="b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1B"/>
                </a:solidFill>
                <a:latin typeface="Malgun Gothic"/>
                <a:ea typeface="Malgun Gothic"/>
              </a:rPr>
              <a:t>05   </a:t>
            </a:r>
            <a:r>
              <a:rPr sz="2000" b="1">
                <a:solidFill>
                  <a:srgbClr val="00205B"/>
                </a:solidFill>
                <a:latin typeface="Malgun Gothic"/>
                <a:ea typeface="Malgun Gothic"/>
              </a:rPr>
              <a:t>기능 ① 신규위험 대시보드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274320"/>
            <a:ext cx="3794760" cy="502920"/>
          </a:xfrm>
          <a:prstGeom prst="rect">
            <a:avLst/>
          </a:prstGeom>
          <a:noFill/>
        </p:spPr>
        <p:txBody>
          <a:bodyPr wrap="square" anchor="b" lIns="18288" rIns="18288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197"/>
                </a:solidFill>
                <a:latin typeface="Malgun Gothic"/>
                <a:ea typeface="Malgun Gothic"/>
              </a:rPr>
              <a:t>경로  /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1183112" cy="330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83112" cy="658368"/>
          </a:xfrm>
          <a:prstGeom prst="rect">
            <a:avLst/>
          </a:prstGeom>
          <a:solidFill>
            <a:srgbClr val="FF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43180" cy="658368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52144"/>
            <a:ext cx="107899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205B"/>
                </a:solidFill>
                <a:latin typeface="Malgun Gothic"/>
                <a:ea typeface="Malgun Gothic"/>
              </a:rPr>
              <a:t>채널별 수집 현황과 새로운 위험의 변화를 한눈에 파악하는 관측 시작점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6B8197"/>
                </a:solidFill>
                <a:latin typeface="Malgun Gothic"/>
                <a:ea typeface="Malgun Gothic"/>
              </a:rPr>
              <a:t>목적 — 어제와 달라진 것, 오늘 검토가 필요한 것, 데이터가 끊긴 것을 첫 화면에서 구분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3587496" cy="4206240"/>
          </a:xfrm>
          <a:prstGeom prst="roundRect">
            <a:avLst>
              <a:gd name="adj" fmla="val 6000"/>
            </a:avLst>
          </a:prstGeom>
          <a:solidFill>
            <a:srgbClr val="FBFDFF"/>
          </a:solidFill>
          <a:ln w="9525">
            <a:solidFill>
              <a:srgbClr val="E3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" y="2167128"/>
            <a:ext cx="40640" cy="146304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103120"/>
            <a:ext cx="3203448" cy="4023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답하는 질문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최근 관측에서 무엇이 유의미하게 변했는가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어떤 후보가 오늘 검토 또는 재검토가 필요한가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어떤 수집 채널이 오래됐거나 실패했는가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0728" y="2011680"/>
            <a:ext cx="3587496" cy="4206240"/>
          </a:xfrm>
          <a:prstGeom prst="roundRect">
            <a:avLst>
              <a:gd name="adj" fmla="val 6000"/>
            </a:avLst>
          </a:prstGeom>
          <a:solidFill>
            <a:srgbClr val="FBFDFF"/>
          </a:solidFill>
          <a:ln w="9525">
            <a:solidFill>
              <a:srgbClr val="E3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7032" y="2167128"/>
            <a:ext cx="40640" cy="146304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8472" y="2103120"/>
            <a:ext cx="3203448" cy="4023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주요 기능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5채널 신호 파이프라인 · 소스 상태 표시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이슈 매트릭스 · 우선 검토 알림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산업 · 시장 추이, 법령 동향 보드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상품 설계 보드 · 후보 상세 진입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8536" y="2011680"/>
            <a:ext cx="3587496" cy="4206240"/>
          </a:xfrm>
          <a:prstGeom prst="roundRect">
            <a:avLst>
              <a:gd name="adj" fmla="val 6000"/>
            </a:avLst>
          </a:prstGeom>
          <a:solidFill>
            <a:srgbClr val="FBFDFF"/>
          </a:solidFill>
          <a:ln w="9525">
            <a:solidFill>
              <a:srgbClr val="E3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44840" y="2167128"/>
            <a:ext cx="40640" cy="146304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6280" y="2103120"/>
            <a:ext cx="3203448" cy="4023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설계 기준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기업성 후보 우선 노출, 가계성은 보조 분류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데이터 최신 시각 · 실패 채널 · 샘플 여부 표시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같은 사건의 재게시를 독립 근거로 중복 계산하지 않음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601200" cy="502920"/>
          </a:xfrm>
          <a:prstGeom prst="rect">
            <a:avLst/>
          </a:prstGeom>
          <a:noFill/>
        </p:spPr>
        <p:txBody>
          <a:bodyPr wrap="square" anchor="b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1B"/>
                </a:solidFill>
                <a:latin typeface="Malgun Gothic"/>
                <a:ea typeface="Malgun Gothic"/>
              </a:rPr>
              <a:t>06   </a:t>
            </a:r>
            <a:r>
              <a:rPr sz="2000" b="1">
                <a:solidFill>
                  <a:srgbClr val="00205B"/>
                </a:solidFill>
                <a:latin typeface="Malgun Gothic"/>
                <a:ea typeface="Malgun Gothic"/>
              </a:rPr>
              <a:t>기능 ② 위험 탐색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274320"/>
            <a:ext cx="3794760" cy="502920"/>
          </a:xfrm>
          <a:prstGeom prst="rect">
            <a:avLst/>
          </a:prstGeom>
          <a:noFill/>
        </p:spPr>
        <p:txBody>
          <a:bodyPr wrap="square" anchor="b" lIns="18288" rIns="18288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197"/>
                </a:solidFill>
                <a:latin typeface="Malgun Gothic"/>
                <a:ea typeface="Malgun Gothic"/>
              </a:rPr>
              <a:t>경로  /risks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1183112" cy="330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83112" cy="658368"/>
          </a:xfrm>
          <a:prstGeom prst="rect">
            <a:avLst/>
          </a:prstGeom>
          <a:solidFill>
            <a:srgbClr val="FF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43180" cy="658368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52144"/>
            <a:ext cx="107899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205B"/>
                </a:solidFill>
                <a:latin typeface="Malgun Gothic"/>
                <a:ea typeface="Malgun Gothic"/>
              </a:rPr>
              <a:t>발굴된 후보를 위험 카드 단위로 정리하고, 지금 상세 평가할 대상을 선별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6B8197"/>
                </a:solidFill>
                <a:latin typeface="Malgun Gothic"/>
                <a:ea typeface="Malgun Gothic"/>
              </a:rPr>
              <a:t>목적 — 흩어진 수집 신호를 검토 가능한 후보로 정규화하는 선별 게이트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3587496" cy="4206240"/>
          </a:xfrm>
          <a:prstGeom prst="roundRect">
            <a:avLst>
              <a:gd name="adj" fmla="val 6000"/>
            </a:avLst>
          </a:prstGeom>
          <a:solidFill>
            <a:srgbClr val="FBFDFF"/>
          </a:solidFill>
          <a:ln w="9525">
            <a:solidFill>
              <a:srgbClr val="E3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" y="2167128"/>
            <a:ext cx="40640" cy="146304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103120"/>
            <a:ext cx="3203448" cy="4023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위험 카드가 담는 정보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위험 개요 · 관련 산업 · 사고 사례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잠재 고객과 시장 · 규제 동향 · 해외 사례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출처 · 검토 상태 · 담당 · 다음 검토일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0728" y="2011680"/>
            <a:ext cx="3587496" cy="4206240"/>
          </a:xfrm>
          <a:prstGeom prst="roundRect">
            <a:avLst>
              <a:gd name="adj" fmla="val 6000"/>
            </a:avLst>
          </a:prstGeom>
          <a:solidFill>
            <a:srgbClr val="FBFDFF"/>
          </a:solidFill>
          <a:ln w="9525">
            <a:solidFill>
              <a:srgbClr val="E3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7032" y="2167128"/>
            <a:ext cx="40640" cy="146304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8472" y="2103120"/>
            <a:ext cx="3203448" cy="4023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주요 기능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수집 단계 · 기사 큐 · 후보 등록 요청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TOP-5 후보 12열 비교 매트릭스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지표별 근거 팝오버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법률 · 판례 확인 패널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8536" y="2011680"/>
            <a:ext cx="3587496" cy="4206240"/>
          </a:xfrm>
          <a:prstGeom prst="roundRect">
            <a:avLst>
              <a:gd name="adj" fmla="val 6000"/>
            </a:avLst>
          </a:prstGeom>
          <a:solidFill>
            <a:srgbClr val="FBFDFF"/>
          </a:solidFill>
          <a:ln w="9525">
            <a:solidFill>
              <a:srgbClr val="E3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44840" y="2167128"/>
            <a:ext cx="40640" cy="146304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6280" y="2103120"/>
            <a:ext cx="3203448" cy="4023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설계 기준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기사 제목만 나열하는 목록 금지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근거 없는 자동 우선순위 확정 금지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중복 후보 정리 · 상태 변경 이력 보존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950" b="0">
                <a:solidFill>
                  <a:srgbClr val="6B8197"/>
                </a:solidFill>
                <a:latin typeface="Malgun Gothic"/>
                <a:ea typeface="Malgun Gothic"/>
              </a:rPr>
              <a:t>후보 생성은 확정이 아닌 초안 상태로 요청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601200" cy="502920"/>
          </a:xfrm>
          <a:prstGeom prst="rect">
            <a:avLst/>
          </a:prstGeom>
          <a:noFill/>
        </p:spPr>
        <p:txBody>
          <a:bodyPr wrap="square" anchor="b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1B"/>
                </a:solidFill>
                <a:latin typeface="Malgun Gothic"/>
                <a:ea typeface="Malgun Gothic"/>
              </a:rPr>
              <a:t>07   </a:t>
            </a:r>
            <a:r>
              <a:rPr sz="2000" b="1">
                <a:solidFill>
                  <a:srgbClr val="00205B"/>
                </a:solidFill>
                <a:latin typeface="Malgun Gothic"/>
                <a:ea typeface="Malgun Gothic"/>
              </a:rPr>
              <a:t>기능 ③ 위험 상세 · 상품화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274320"/>
            <a:ext cx="3794760" cy="502920"/>
          </a:xfrm>
          <a:prstGeom prst="rect">
            <a:avLst/>
          </a:prstGeom>
          <a:noFill/>
        </p:spPr>
        <p:txBody>
          <a:bodyPr wrap="square" anchor="b" lIns="18288" rIns="18288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197"/>
                </a:solidFill>
                <a:latin typeface="Malgun Gothic"/>
                <a:ea typeface="Malgun Gothic"/>
              </a:rPr>
              <a:t>경로  /risks/:riskId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1183112" cy="330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83112" cy="658368"/>
          </a:xfrm>
          <a:prstGeom prst="rect">
            <a:avLst/>
          </a:prstGeom>
          <a:solidFill>
            <a:srgbClr val="FF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43180" cy="658368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52144"/>
            <a:ext cx="107899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205B"/>
                </a:solidFill>
                <a:latin typeface="Malgun Gothic"/>
                <a:ea typeface="Malgun Gothic"/>
              </a:rPr>
              <a:t>후보 하나를 상품화 심사 기준으로 1차 평가 — 이 위험이 보험으로 성립하는가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6B8197"/>
                </a:solidFill>
                <a:latin typeface="Malgun Gothic"/>
                <a:ea typeface="Malgun Gothic"/>
              </a:rPr>
              <a:t>목적 — 통과 · 주의 · 추가 확인을 근거 출처와 함께 제시하고, 진행 / 보류 / 폐기 결정을 도출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965960"/>
          <a:ext cx="11183112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8348472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심사 항목</a:t>
                      </a:r>
                    </a:p>
                  </a:txBody>
                  <a:tcPr marL="91440" marR="91440" marT="36576" marB="36576" anchor="ctr">
                    <a:solidFill>
                      <a:srgbClr val="0020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핵심 질문</a:t>
                      </a:r>
                    </a:p>
                  </a:txBody>
                  <a:tcPr marL="91440" marR="91440" marT="36576" marB="36576" anchor="ctr">
                    <a:solidFill>
                      <a:srgbClr val="00205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0205B"/>
                          </a:solidFill>
                          <a:latin typeface="Malgun Gothic"/>
                          <a:ea typeface="Malgun Gothic"/>
                        </a:rPr>
                        <a:t>시장성 · 실제 계약자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8324C"/>
                          </a:solidFill>
                          <a:latin typeface="Malgun Gothic"/>
                          <a:ea typeface="Malgun Gothic"/>
                        </a:rPr>
                        <a:t>잠재 고객 수와 보험료 규모가 충분하고, 구체적 가입 의향이 존재하는가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0205B"/>
                          </a:solidFill>
                          <a:latin typeface="Malgun Gothic"/>
                          <a:ea typeface="Malgun Gothic"/>
                        </a:rPr>
                        <a:t>우연성</a:t>
                      </a:r>
                    </a:p>
                  </a:txBody>
                  <a:tcPr marL="91440" marR="91440" marT="36576" marB="36576" anchor="ctr">
                    <a:solidFill>
                      <a:srgbClr val="FBFD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8324C"/>
                          </a:solidFill>
                          <a:latin typeface="Malgun Gothic"/>
                          <a:ea typeface="Malgun Gothic"/>
                        </a:rPr>
                        <a:t>계약자가 임의로 발생시킬 수 없고 발생 여부 · 시점 · 규모가 불확실한가</a:t>
                      </a:r>
                    </a:p>
                  </a:txBody>
                  <a:tcPr marL="91440" marR="91440" marT="36576" marB="36576" anchor="ctr">
                    <a:solidFill>
                      <a:srgbClr val="FBFD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0205B"/>
                          </a:solidFill>
                          <a:latin typeface="Malgun Gothic"/>
                          <a:ea typeface="Malgun Gothic"/>
                        </a:rPr>
                        <a:t>피보험이익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8324C"/>
                          </a:solidFill>
                          <a:latin typeface="Malgun Gothic"/>
                          <a:ea typeface="Malgun Gothic"/>
                        </a:rPr>
                        <a:t>보험금 수령자가 사고로 실제 경제적 손해를 입는 관계인가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0205B"/>
                          </a:solidFill>
                          <a:latin typeface="Malgun Gothic"/>
                          <a:ea typeface="Malgun Gothic"/>
                        </a:rPr>
                        <a:t>최대 가능 손해(PML)</a:t>
                      </a:r>
                    </a:p>
                  </a:txBody>
                  <a:tcPr marL="91440" marR="91440" marT="36576" marB="36576" anchor="ctr">
                    <a:solidFill>
                      <a:srgbClr val="FBFD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8324C"/>
                          </a:solidFill>
                          <a:latin typeface="Malgun Gothic"/>
                          <a:ea typeface="Malgun Gothic"/>
                        </a:rPr>
                        <a:t>한 사고 · 누적 사고의 최대 손해를 감당하거나 재보험으로 이전할 수 있는가</a:t>
                      </a:r>
                    </a:p>
                  </a:txBody>
                  <a:tcPr marL="91440" marR="91440" marT="36576" marB="36576" anchor="ctr">
                    <a:solidFill>
                      <a:srgbClr val="FBFD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0205B"/>
                          </a:solidFill>
                          <a:latin typeface="Malgun Gothic"/>
                          <a:ea typeface="Malgun Gothic"/>
                        </a:rPr>
                        <a:t>도덕적 해이 · 사행성 배제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8324C"/>
                          </a:solidFill>
                          <a:latin typeface="Malgun Gothic"/>
                          <a:ea typeface="Malgun Gothic"/>
                        </a:rPr>
                        <a:t>고의 · 조작 · 보험사기를 통제할 수 있고, 확정 수익 약속 구조가 아닌가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0205B"/>
                          </a:solidFill>
                          <a:latin typeface="Malgun Gothic"/>
                          <a:ea typeface="Malgun Gothic"/>
                        </a:rPr>
                        <a:t>약관 · 손해 산정 가능성</a:t>
                      </a:r>
                    </a:p>
                  </a:txBody>
                  <a:tcPr marL="91440" marR="91440" marT="36576" marB="36576" anchor="ctr">
                    <a:solidFill>
                      <a:srgbClr val="FBFD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8324C"/>
                          </a:solidFill>
                          <a:latin typeface="Malgun Gothic"/>
                          <a:ea typeface="Malgun Gothic"/>
                        </a:rPr>
                        <a:t>보장 사고 · 면책 · 지급 조건과 손해액 산정 방식을 명확히 정의할 수 있는가</a:t>
                      </a:r>
                    </a:p>
                  </a:txBody>
                  <a:tcPr marL="91440" marR="91440" marT="36576" marB="36576" anchor="ctr">
                    <a:solidFill>
                      <a:srgbClr val="FBFD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892040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FBFDFF"/>
          </a:solidFill>
          <a:ln w="9525">
            <a:solidFill>
              <a:srgbClr val="E3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" y="5047488"/>
            <a:ext cx="40640" cy="146304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4983480"/>
            <a:ext cx="5102352" cy="1508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주요 기능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950" b="0">
                <a:solidFill>
                  <a:srgbClr val="18324C"/>
                </a:solidFill>
                <a:latin typeface="Malgun Gothic"/>
                <a:ea typeface="Malgun Gothic"/>
              </a:rPr>
              <a:t>신호 추세 · 통계 · 손실 드라이버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950" b="0">
                <a:solidFill>
                  <a:srgbClr val="18324C"/>
                </a:solidFill>
                <a:latin typeface="Malgun Gothic"/>
                <a:ea typeface="Malgun Gothic"/>
              </a:rPr>
              <a:t>근거 원장 — 원문 · 수집 시각 · 발췌 · 교차검증 게이트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950" b="0">
                <a:solidFill>
                  <a:srgbClr val="18324C"/>
                </a:solidFill>
                <a:latin typeface="Malgun Gothic"/>
                <a:ea typeface="Malgun Gothic"/>
              </a:rPr>
              <a:t>기존 상품 · 특약 비교, 9항목 종합평가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4892040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FBFDFF"/>
          </a:solidFill>
          <a:ln w="9525">
            <a:solidFill>
              <a:srgbClr val="E3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45936" y="5047488"/>
            <a:ext cx="40640" cy="146304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4983480"/>
            <a:ext cx="5102352" cy="1508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결정 출력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950" b="0">
                <a:solidFill>
                  <a:srgbClr val="18324C"/>
                </a:solidFill>
                <a:latin typeface="Malgun Gothic"/>
                <a:ea typeface="Malgun Gothic"/>
              </a:rPr>
              <a:t>진행 / 보류 / 폐기 결정과 이유 · 근거 ID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950" b="0">
                <a:solidFill>
                  <a:srgbClr val="18324C"/>
                </a:solidFill>
                <a:latin typeface="Malgun Gothic"/>
                <a:ea typeface="Malgun Gothic"/>
              </a:rPr>
              <a:t>보장 구조 가설 초안 — 대상 · 보험사고 · 보장 · 면책 후보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900" b="0">
                <a:solidFill>
                  <a:srgbClr val="6B8197"/>
                </a:solidFill>
                <a:latin typeface="Malgun Gothic"/>
                <a:ea typeface="Malgun Gothic"/>
              </a:rPr>
              <a:t>폐기 시 사유를 이력으로 축적 (예 — 우연성 부족 · 피보험이익 부재 · 사행성)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601200" cy="502920"/>
          </a:xfrm>
          <a:prstGeom prst="rect">
            <a:avLst/>
          </a:prstGeom>
          <a:noFill/>
        </p:spPr>
        <p:txBody>
          <a:bodyPr wrap="square" anchor="b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1B"/>
                </a:solidFill>
                <a:latin typeface="Malgun Gothic"/>
                <a:ea typeface="Malgun Gothic"/>
              </a:rPr>
              <a:t>08   </a:t>
            </a:r>
            <a:r>
              <a:rPr sz="2000" b="1">
                <a:solidFill>
                  <a:srgbClr val="00205B"/>
                </a:solidFill>
                <a:latin typeface="Malgun Gothic"/>
                <a:ea typeface="Malgun Gothic"/>
              </a:rPr>
              <a:t>기능 ④ 종합 리포트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274320"/>
            <a:ext cx="3794760" cy="502920"/>
          </a:xfrm>
          <a:prstGeom prst="rect">
            <a:avLst/>
          </a:prstGeom>
          <a:noFill/>
        </p:spPr>
        <p:txBody>
          <a:bodyPr wrap="square" anchor="b" lIns="18288" rIns="18288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197"/>
                </a:solidFill>
                <a:latin typeface="Malgun Gothic"/>
                <a:ea typeface="Malgun Gothic"/>
              </a:rPr>
              <a:t>경로  /reports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1183112" cy="330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83112" cy="658368"/>
          </a:xfrm>
          <a:prstGeom prst="rect">
            <a:avLst/>
          </a:prstGeom>
          <a:solidFill>
            <a:srgbClr val="FF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43180" cy="658368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52144"/>
            <a:ext cx="107899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205B"/>
                </a:solidFill>
                <a:latin typeface="Malgun Gothic"/>
                <a:ea typeface="Malgun Gothic"/>
              </a:rPr>
              <a:t>상품개발 · 영업 미팅에 바로 활용하는 회의용 검토 자료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6B8197"/>
                </a:solidFill>
                <a:latin typeface="Malgun Gothic"/>
                <a:ea typeface="Malgun Gothic"/>
              </a:rPr>
              <a:t>목적 — 관리자 · 상품 · 계리 · 보상 · 법무가 같은 근거를 보고 다음 투자 여부를 결정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3587496" cy="2651760"/>
          </a:xfrm>
          <a:prstGeom prst="roundRect">
            <a:avLst>
              <a:gd name="adj" fmla="val 6000"/>
            </a:avLst>
          </a:prstGeom>
          <a:solidFill>
            <a:srgbClr val="FBFDFF"/>
          </a:solidFill>
          <a:ln w="9525">
            <a:solidFill>
              <a:srgbClr val="E3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" y="2167128"/>
            <a:ext cx="40640" cy="146304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103120"/>
            <a:ext cx="3203448" cy="2468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리포트 구성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회의용 요약과 요청 결정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위험 정의 · 시장 · 손실 시나리오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보장 구조 초안과 기존 상품 비교 · 공백 가설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실무 확인 질문 · 데이터 출처 · 리스크와 한계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0728" y="2011680"/>
            <a:ext cx="3587496" cy="2651760"/>
          </a:xfrm>
          <a:prstGeom prst="roundRect">
            <a:avLst>
              <a:gd name="adj" fmla="val 6000"/>
            </a:avLst>
          </a:prstGeom>
          <a:solidFill>
            <a:srgbClr val="FBFDFF"/>
          </a:solidFill>
          <a:ln w="9525">
            <a:solidFill>
              <a:srgbClr val="E3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7032" y="2167128"/>
            <a:ext cx="40640" cy="146304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8472" y="2103120"/>
            <a:ext cx="3203448" cy="2468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주요 기능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리포트 생성 · 섹션 편집 · 저장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약관 초안 생성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리포트 기반 Q&amp;A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PDF 출력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8536" y="2011680"/>
            <a:ext cx="3587496" cy="2651760"/>
          </a:xfrm>
          <a:prstGeom prst="roundRect">
            <a:avLst>
              <a:gd name="adj" fmla="val 6000"/>
            </a:avLst>
          </a:prstGeom>
          <a:solidFill>
            <a:srgbClr val="FBFDFF"/>
          </a:solidFill>
          <a:ln w="9525">
            <a:solidFill>
              <a:srgbClr val="E3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44840" y="2167128"/>
            <a:ext cx="40640" cy="146304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6280" y="2103120"/>
            <a:ext cx="3203448" cy="2468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완료 기준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수치와 문장이 근거 ID로 역추적 가능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진행 / 보류 / 폐기가 분명하고, 미결 질문은 담당자 · 기한과 연결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생성 시점 스냅샷과 이후 변경 이력 구분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937760"/>
            <a:ext cx="11183112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1">
                <a:solidFill>
                  <a:srgbClr val="00205B"/>
                </a:solidFill>
                <a:latin typeface="Malgun Gothic"/>
                <a:ea typeface="Malgun Gothic"/>
              </a:rPr>
              <a:t>미팅에서 확인할 질문 예시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 — 어떤 사고와 손해를 보장하는가 · 사고와 손해를 객관적으로 확인할 수 있는가 · 실제 계약자가 존재하는가 · 동시다발 사고 위험을 추정할 수 있는가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601200" cy="502920"/>
          </a:xfrm>
          <a:prstGeom prst="rect">
            <a:avLst/>
          </a:prstGeom>
          <a:noFill/>
        </p:spPr>
        <p:txBody>
          <a:bodyPr wrap="square" anchor="b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1B"/>
                </a:solidFill>
                <a:latin typeface="Malgun Gothic"/>
                <a:ea typeface="Malgun Gothic"/>
              </a:rPr>
              <a:t>09   </a:t>
            </a:r>
            <a:r>
              <a:rPr sz="2000" b="1">
                <a:solidFill>
                  <a:srgbClr val="00205B"/>
                </a:solidFill>
                <a:latin typeface="Malgun Gothic"/>
                <a:ea typeface="Malgun Gothic"/>
              </a:rPr>
              <a:t>기대 효과와 현재 상태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274320"/>
            <a:ext cx="3794760" cy="502920"/>
          </a:xfrm>
          <a:prstGeom prst="rect">
            <a:avLst/>
          </a:prstGeom>
          <a:noFill/>
        </p:spPr>
        <p:txBody>
          <a:bodyPr wrap="square" anchor="b" lIns="18288" rIns="18288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197"/>
                </a:solidFill>
                <a:latin typeface="Malgun Gothic"/>
                <a:ea typeface="Malgun Gothic"/>
              </a:rPr>
              <a:t>성공 기준 · 구현 범위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1183112" cy="330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83112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8324C"/>
                </a:solidFill>
                <a:latin typeface="Malgun Gothic"/>
                <a:ea typeface="Malgun Gothic"/>
              </a:rPr>
              <a:t>성공 기준은 상품화 여부를 단정하는 정확도가 아니라, </a:t>
            </a:r>
            <a:r>
              <a:rPr sz="1250" b="1">
                <a:solidFill>
                  <a:srgbClr val="FF9E1B"/>
                </a:solidFill>
                <a:latin typeface="Malgun Gothic"/>
                <a:ea typeface="Malgun Gothic"/>
              </a:rPr>
              <a:t>더 이른 발견 · 더 빠른 근거 제공 · 검토 이력의 축적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3657600" cy="3291840"/>
          </a:xfrm>
          <a:prstGeom prst="roundRect">
            <a:avLst>
              <a:gd name="adj" fmla="val 6000"/>
            </a:avLst>
          </a:prstGeom>
          <a:solidFill>
            <a:srgbClr val="FBFDFF"/>
          </a:solidFill>
          <a:ln w="9525">
            <a:solidFill>
              <a:srgbClr val="E3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" y="1801368"/>
            <a:ext cx="40640" cy="146304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737360"/>
            <a:ext cx="3273552" cy="3108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기대 효과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요청 후 검토(80~90% 후행)에서 상시 탐지 · 선제 제안으로 전환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기존보다 이른 시점에 유의미한 기업성 신위험 발견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실무자가 검토할 근거와 질문을 회의 전에 확보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검토 · 폐기 이력이 조직 지식으로 축적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1645920"/>
            <a:ext cx="3657600" cy="3291840"/>
          </a:xfrm>
          <a:prstGeom prst="roundRect">
            <a:avLst>
              <a:gd name="adj" fmla="val 6000"/>
            </a:avLst>
          </a:prstGeom>
          <a:solidFill>
            <a:srgbClr val="FBFDFF"/>
          </a:solidFill>
          <a:ln w="9525">
            <a:solidFill>
              <a:srgbClr val="E3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6552" y="1801368"/>
            <a:ext cx="40640" cy="146304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737360"/>
            <a:ext cx="3273552" cy="3108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현재 구현 범위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4개 화면의 구조 · 상호작용 · 데이터 계약 구현 (샘플 표시)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리포트 생성 · 편집 · PDF는 프록시 경계까지 구현 (로컬 동작)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후보 · 점수 · 근거 수치는 구조 검토용 샘플 데이터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1645920"/>
            <a:ext cx="3657600" cy="3291840"/>
          </a:xfrm>
          <a:prstGeom prst="roundRect">
            <a:avLst>
              <a:gd name="adj" fmla="val 6000"/>
            </a:avLst>
          </a:prstGeom>
          <a:solidFill>
            <a:srgbClr val="FBFDFF"/>
          </a:solidFill>
          <a:ln w="9525">
            <a:solidFill>
              <a:srgbClr val="E3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74735" y="1801368"/>
            <a:ext cx="40640" cy="146304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5" y="1737360"/>
            <a:ext cx="3273552" cy="3108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0205B"/>
                </a:solidFill>
                <a:latin typeface="Malgun Gothic"/>
                <a:ea typeface="Malgun Gothic"/>
              </a:rPr>
              <a:t>운영 전환 조건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인증 · 권한과 수집 · 평가 저장 서버 API 연동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채널별 수집 주기 · 중복 제거 · 감사 로그 체계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1000" b="0">
                <a:solidFill>
                  <a:srgbClr val="18324C"/>
                </a:solidFill>
                <a:latin typeface="Malgun Gothic"/>
                <a:ea typeface="Malgun Gothic"/>
              </a:rPr>
              <a:t>모니터링 기관 목록 · 심사 데이터 항목의 현업 확정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257800"/>
            <a:ext cx="11183112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9E1B"/>
                </a:solidFill>
                <a:latin typeface="Malgun Gothic"/>
                <a:ea typeface="Malgun Gothic"/>
              </a:rPr>
              <a:t>▪ </a:t>
            </a:r>
            <a:r>
              <a:rPr sz="950" b="0">
                <a:solidFill>
                  <a:srgbClr val="6B8197"/>
                </a:solidFill>
                <a:latin typeface="Malgun Gothic"/>
                <a:ea typeface="Malgun Gothic"/>
              </a:rPr>
              <a:t>본 저장소는 현대해상의 공식 서비스가 아닌 내부 검토용 프런트엔드 프로토타입이며, 화면의 수치와 후보는 실제 데이터나 판단이 아님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